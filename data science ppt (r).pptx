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5" r:id="rId14"/>
    <p:sldId id="268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DD5"/>
          </a:solidFill>
        </a:fill>
      </a:tcStyle>
    </a:wholeTbl>
    <a:band2H>
      <a:tcTxStyle/>
      <a:tcStyle>
        <a:tcBdr/>
        <a:fill>
          <a:solidFill>
            <a:srgbClr val="E7EFEB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E3ED"/>
          </a:solidFill>
        </a:fill>
      </a:tcStyle>
    </a:wholeTbl>
    <a:band2H>
      <a:tcTxStyle/>
      <a:tcStyle>
        <a:tcBdr/>
        <a:fill>
          <a:solidFill>
            <a:srgbClr val="E7F2F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ADECB"/>
          </a:solidFill>
        </a:fill>
      </a:tcStyle>
    </a:wholeTbl>
    <a:band2H>
      <a:tcTxStyle/>
      <a:tcStyle>
        <a:tcBdr/>
        <a:fill>
          <a:solidFill>
            <a:srgbClr val="FCEF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2"/>
          <p:cNvSpPr txBox="1"/>
          <p:nvPr/>
        </p:nvSpPr>
        <p:spPr>
          <a:xfrm>
            <a:off x="2300506" y="2033348"/>
            <a:ext cx="7590989" cy="806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3200" b="1" i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PROGRAMMING FOR DATA SCIENCE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2187724" y="2731004"/>
            <a:ext cx="8484305" cy="74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>
              <a:defRPr sz="25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Analysis of Nutrition, Physical Activity, and Obesity Trends </a:t>
            </a:r>
          </a:p>
          <a:p>
            <a:pPr algn="ctr">
              <a:defRPr sz="25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the United States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8" descr="Picture 8"/>
          <p:cNvPicPr>
            <a:picLocks noChangeAspect="1"/>
          </p:cNvPicPr>
          <p:nvPr/>
        </p:nvPicPr>
        <p:blipFill>
          <a:blip r:embed="rId2"/>
          <a:srcRect l="2879" t="12925" r="3923" b="13333"/>
          <a:stretch>
            <a:fillRect/>
          </a:stretch>
        </p:blipFill>
        <p:spPr>
          <a:xfrm>
            <a:off x="8210939" y="3547286"/>
            <a:ext cx="3868917" cy="3061245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itle 1"/>
          <p:cNvSpPr txBox="1">
            <a:spLocks noGrp="1"/>
          </p:cNvSpPr>
          <p:nvPr>
            <p:ph type="title"/>
          </p:nvPr>
        </p:nvSpPr>
        <p:spPr>
          <a:xfrm>
            <a:off x="550506" y="111967"/>
            <a:ext cx="4516017" cy="1054360"/>
          </a:xfrm>
          <a:prstGeom prst="rect">
            <a:avLst/>
          </a:prstGeom>
        </p:spPr>
        <p:txBody>
          <a:bodyPr/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Dataset Overview</a:t>
            </a:r>
          </a:p>
        </p:txBody>
      </p:sp>
      <p:sp>
        <p:nvSpPr>
          <p:cNvPr id="9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391887" y="1281985"/>
            <a:ext cx="8490858" cy="5326545"/>
          </a:xfrm>
          <a:prstGeom prst="rect">
            <a:avLst/>
          </a:prstGeom>
        </p:spPr>
        <p:txBody>
          <a:bodyPr/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Source: </a:t>
            </a:r>
            <a:r>
              <a:rPr b="0" dirty="0"/>
              <a:t>Behavioral Risk Factor Surveillance System</a:t>
            </a:r>
            <a:br>
              <a:rPr b="0" dirty="0"/>
            </a:br>
            <a:r>
              <a:rPr b="0" dirty="0"/>
              <a:t>              (BRFSS), CDC</a:t>
            </a:r>
            <a:r>
              <a:rPr lang="en-US" b="0" dirty="0"/>
              <a:t>.</a:t>
            </a:r>
            <a:endParaRPr b="0" dirty="0"/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Coverage:</a:t>
            </a:r>
            <a:r>
              <a:rPr b="0" dirty="0"/>
              <a:t> U.S. state-level public health data </a:t>
            </a:r>
            <a:br>
              <a:rPr b="0" dirty="0"/>
            </a:br>
            <a:r>
              <a:rPr b="0" dirty="0"/>
              <a:t>                   (from 2011)</a:t>
            </a:r>
            <a:r>
              <a:rPr lang="en-US" b="0" dirty="0"/>
              <a:t>.</a:t>
            </a:r>
            <a:endParaRPr b="0" dirty="0"/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Unit:</a:t>
            </a:r>
            <a:r>
              <a:rPr b="0" dirty="0"/>
              <a:t> State × Year × Population subgroup</a:t>
            </a:r>
            <a:r>
              <a:rPr lang="en-US" b="0" dirty="0"/>
              <a:t>.</a:t>
            </a:r>
            <a:endParaRPr b="0" dirty="0"/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Key Measures:</a:t>
            </a:r>
            <a:r>
              <a:rPr b="0" dirty="0"/>
              <a:t> Obesity, physical activity, nutrition</a:t>
            </a:r>
            <a:br>
              <a:rPr b="0" dirty="0"/>
            </a:br>
            <a:r>
              <a:rPr b="0" dirty="0"/>
              <a:t>                           behaviors</a:t>
            </a:r>
            <a:r>
              <a:rPr lang="en-US" b="0" dirty="0"/>
              <a:t>.</a:t>
            </a:r>
            <a:endParaRPr b="0" dirty="0"/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Demographics:</a:t>
            </a:r>
            <a:r>
              <a:rPr b="0" dirty="0"/>
              <a:t> Age, sex, education, income,</a:t>
            </a:r>
            <a:br>
              <a:rPr b="0" dirty="0"/>
            </a:br>
            <a:r>
              <a:rPr b="0" dirty="0"/>
              <a:t>                           race/ethnicity</a:t>
            </a:r>
            <a:r>
              <a:rPr lang="en-US" b="0" dirty="0"/>
              <a:t>.</a:t>
            </a:r>
            <a:endParaRPr b="0" dirty="0"/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Data Fields:</a:t>
            </a:r>
            <a:r>
              <a:rPr b="0" dirty="0"/>
              <a:t> Prevalence estimate, confidence</a:t>
            </a:r>
            <a:br>
              <a:rPr b="0" dirty="0"/>
            </a:br>
            <a:r>
              <a:rPr b="0" dirty="0"/>
              <a:t>                      intervals, sample size</a:t>
            </a:r>
            <a:r>
              <a:rPr lang="en-US" b="0" dirty="0"/>
              <a:t>.</a:t>
            </a:r>
            <a:endParaRPr b="0" dirty="0"/>
          </a:p>
        </p:txBody>
      </p:sp>
      <p:pic>
        <p:nvPicPr>
          <p:cNvPr id="100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745" y="2058819"/>
            <a:ext cx="1991511" cy="711634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Freeform 6"/>
          <p:cNvSpPr/>
          <p:nvPr/>
        </p:nvSpPr>
        <p:spPr>
          <a:xfrm>
            <a:off x="9595618" y="249469"/>
            <a:ext cx="2384013" cy="121728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>
            <a:spLocks noGrp="1"/>
          </p:cNvSpPr>
          <p:nvPr>
            <p:ph type="title"/>
          </p:nvPr>
        </p:nvSpPr>
        <p:spPr>
          <a:xfrm>
            <a:off x="3729911" y="197174"/>
            <a:ext cx="4732177" cy="810534"/>
          </a:xfrm>
          <a:prstGeom prst="rect">
            <a:avLst/>
          </a:prstGeom>
        </p:spPr>
        <p:txBody>
          <a:bodyPr/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Data Cleaning</a:t>
            </a:r>
          </a:p>
        </p:txBody>
      </p:sp>
      <p:sp>
        <p:nvSpPr>
          <p:cNvPr id="104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3533" y="1354171"/>
            <a:ext cx="9171994" cy="4636083"/>
          </a:xfrm>
          <a:prstGeom prst="rect">
            <a:avLst/>
          </a:prstGeom>
        </p:spPr>
        <p:txBody>
          <a:bodyPr/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Why Cleaning is Needed: </a:t>
            </a:r>
            <a:r>
              <a:rPr b="0" dirty="0"/>
              <a:t>Real-world data has missing values and inconsistencies</a:t>
            </a:r>
            <a:r>
              <a:rPr lang="en-US" b="0" dirty="0"/>
              <a:t>.</a:t>
            </a:r>
            <a:endParaRPr b="0" dirty="0"/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Steps Performed: </a:t>
            </a:r>
            <a:r>
              <a:rPr b="0" dirty="0"/>
              <a:t>Imported important libraries</a:t>
            </a:r>
            <a:br>
              <a:rPr b="0" dirty="0"/>
            </a:br>
            <a:r>
              <a:rPr b="0" dirty="0"/>
              <a:t>                               Loaded data into Data Frame</a:t>
            </a:r>
            <a:br>
              <a:rPr b="0" dirty="0"/>
            </a:br>
            <a:r>
              <a:rPr b="0" dirty="0"/>
              <a:t>                               Checked structure and missing values</a:t>
            </a:r>
            <a:br>
              <a:rPr b="0" dirty="0"/>
            </a:br>
            <a:r>
              <a:rPr b="0" dirty="0"/>
              <a:t>                               Selected relevant columns</a:t>
            </a:r>
            <a:br>
              <a:rPr b="0" dirty="0"/>
            </a:br>
            <a:r>
              <a:rPr b="0" dirty="0"/>
              <a:t>                               Cleaned and </a:t>
            </a:r>
            <a:r>
              <a:rPr b="0" dirty="0" err="1"/>
              <a:t>standardised</a:t>
            </a:r>
            <a:r>
              <a:rPr b="0" dirty="0"/>
              <a:t> data</a:t>
            </a:r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Outcome: </a:t>
            </a:r>
            <a:r>
              <a:rPr b="0" dirty="0"/>
              <a:t>Clean, consistent dataset ready for analysis</a:t>
            </a:r>
          </a:p>
        </p:txBody>
      </p:sp>
      <p:pic>
        <p:nvPicPr>
          <p:cNvPr id="105" name="Picture 5" descr="Picture 5"/>
          <p:cNvPicPr>
            <a:picLocks noChangeAspect="1"/>
          </p:cNvPicPr>
          <p:nvPr/>
        </p:nvPicPr>
        <p:blipFill>
          <a:blip r:embed="rId2"/>
          <a:srcRect l="31050" t="19368" r="29067"/>
          <a:stretch>
            <a:fillRect/>
          </a:stretch>
        </p:blipFill>
        <p:spPr>
          <a:xfrm>
            <a:off x="9522666" y="3792894"/>
            <a:ext cx="2127380" cy="24192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481" y="-350288"/>
            <a:ext cx="3186794" cy="31867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 txBox="1"/>
          <p:nvPr/>
        </p:nvSpPr>
        <p:spPr>
          <a:xfrm>
            <a:off x="934845" y="130689"/>
            <a:ext cx="6838498" cy="67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914400">
              <a:lnSpc>
                <a:spcPct val="90000"/>
              </a:lnSpc>
              <a:defRPr sz="41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Obesity Trends Over Time</a:t>
            </a:r>
          </a:p>
        </p:txBody>
      </p:sp>
      <p:pic>
        <p:nvPicPr>
          <p:cNvPr id="109" name="Picture 4" descr="Picture 4"/>
          <p:cNvPicPr>
            <a:picLocks noChangeAspect="1"/>
          </p:cNvPicPr>
          <p:nvPr/>
        </p:nvPicPr>
        <p:blipFill>
          <a:blip r:embed="rId2"/>
          <a:srcRect t="778" r="55896" b="1"/>
          <a:stretch>
            <a:fillRect/>
          </a:stretch>
        </p:blipFill>
        <p:spPr>
          <a:xfrm>
            <a:off x="9399112" y="4766886"/>
            <a:ext cx="1469322" cy="1859364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TextBox 4"/>
          <p:cNvSpPr txBox="1"/>
          <p:nvPr/>
        </p:nvSpPr>
        <p:spPr>
          <a:xfrm>
            <a:off x="8539319" y="632630"/>
            <a:ext cx="3495366" cy="3970318"/>
          </a:xfrm>
          <a:prstGeom prst="rect">
            <a:avLst/>
          </a:prstGeom>
          <a:solidFill>
            <a:srgbClr val="A7A7A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285750" indent="-285750"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Obesity increased from </a:t>
            </a:r>
            <a:r>
              <a:rPr lang="en-US" b="1" dirty="0"/>
              <a:t>27.6% (2011) to 34.0% (2024)</a:t>
            </a:r>
          </a:p>
          <a:p>
            <a:pPr marL="285750" indent="-285750"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Shows a </a:t>
            </a:r>
            <a:r>
              <a:rPr lang="en-US" b="1" dirty="0"/>
              <a:t>steady upward trend</a:t>
            </a:r>
            <a:r>
              <a:rPr lang="en-US" dirty="0"/>
              <a:t> over time.</a:t>
            </a:r>
            <a:endParaRPr lang="en-US" b="1" dirty="0"/>
          </a:p>
          <a:p>
            <a:pPr marL="285750" indent="-285750"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dirty="0"/>
              <a:t>Confidence interval indicates </a:t>
            </a:r>
            <a:r>
              <a:rPr lang="en-IN" b="1" dirty="0"/>
              <a:t>reliable estimates</a:t>
            </a:r>
            <a:r>
              <a:rPr lang="en-IN" dirty="0"/>
              <a:t>.</a:t>
            </a:r>
            <a:endParaRPr lang="en-US" b="1" dirty="0"/>
          </a:p>
          <a:p>
            <a:pPr marL="285750" indent="-285750"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Highlights a </a:t>
            </a:r>
            <a:r>
              <a:rPr lang="en-US" b="1" dirty="0"/>
              <a:t>growing public health issue</a:t>
            </a:r>
            <a:endParaRPr dirty="0"/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Notes :- </a:t>
            </a:r>
          </a:p>
          <a:p>
            <a:pPr marL="285750" indent="-285750"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The rate increased steadily from </a:t>
            </a:r>
            <a:r>
              <a:rPr lang="en-US" b="1" dirty="0"/>
              <a:t>27.6% to 34%</a:t>
            </a:r>
            <a:r>
              <a:rPr lang="en-US" dirty="0"/>
              <a:t>.</a:t>
            </a:r>
          </a:p>
          <a:p>
            <a:pPr marL="285750" indent="-285750"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The shaded area shows the </a:t>
            </a:r>
            <a:r>
              <a:rPr lang="en-US" b="1" dirty="0"/>
              <a:t>confidence interval</a:t>
            </a:r>
            <a:r>
              <a:rPr lang="en-US" dirty="0"/>
              <a:t>.</a:t>
            </a:r>
            <a:r>
              <a:rPr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D37FC-7C12-71E8-BD9E-3999C3D06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5" y="1299839"/>
            <a:ext cx="8116529" cy="425832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6"/>
          <p:cNvSpPr txBox="1"/>
          <p:nvPr/>
        </p:nvSpPr>
        <p:spPr>
          <a:xfrm>
            <a:off x="2969894" y="106889"/>
            <a:ext cx="6002940" cy="715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 b="1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State-wise Obesity</a:t>
            </a:r>
          </a:p>
        </p:txBody>
      </p:sp>
      <p:pic>
        <p:nvPicPr>
          <p:cNvPr id="116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212" y="186634"/>
            <a:ext cx="3069116" cy="2119372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Box 5"/>
          <p:cNvSpPr txBox="1"/>
          <p:nvPr/>
        </p:nvSpPr>
        <p:spPr>
          <a:xfrm>
            <a:off x="8391765" y="2503794"/>
            <a:ext cx="3728009" cy="4247317"/>
          </a:xfrm>
          <a:prstGeom prst="rect">
            <a:avLst/>
          </a:prstGeom>
          <a:solidFill>
            <a:srgbClr val="A7A7A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285750" indent="-285750" defTabSz="914400">
              <a:buSzPct val="100000"/>
              <a:buFont typeface="Arial" panose="020B0604020202020204" pitchFamily="34" charset="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/>
              <a:t>Highest rates:</a:t>
            </a:r>
            <a:r>
              <a:rPr lang="en-US" dirty="0"/>
              <a:t> West Virginia (37.9%),Mississippi(37.8%),Louisiana (36.6%).</a:t>
            </a:r>
          </a:p>
          <a:p>
            <a:pPr marL="285750" indent="-285750" defTabSz="91440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/>
              <a:t>Lowest rates:</a:t>
            </a:r>
            <a:r>
              <a:rPr lang="en-US" dirty="0"/>
              <a:t> Colorado (22.8%), District of Columbia (23.5%), Hawaii (24.1%).</a:t>
            </a:r>
          </a:p>
          <a:p>
            <a:pPr marL="285750" indent="-285750" defTabSz="91440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Shows </a:t>
            </a:r>
            <a:r>
              <a:rPr lang="en-US" b="1" dirty="0"/>
              <a:t>large variation between states</a:t>
            </a:r>
            <a:r>
              <a:rPr dirty="0"/>
              <a:t>.</a:t>
            </a:r>
          </a:p>
          <a:p>
            <a:pPr marL="285750" indent="-285750" algn="just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Notes :-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This chart compares the </a:t>
            </a:r>
            <a:r>
              <a:rPr lang="en-US" b="1" dirty="0"/>
              <a:t>top 10 highest and lowest obesity states</a:t>
            </a:r>
            <a:r>
              <a:rPr lang="en-US" dirty="0"/>
              <a:t>.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This highlights </a:t>
            </a:r>
            <a:r>
              <a:rPr lang="en-US" b="1" dirty="0"/>
              <a:t>regional differences in lifestyle and health factors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68BE4E-49E8-683B-F6BA-BEAF39D2A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6" y="1729463"/>
            <a:ext cx="8213246" cy="392737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0" descr="Picture 10"/>
          <p:cNvPicPr>
            <a:picLocks noChangeAspect="1"/>
          </p:cNvPicPr>
          <p:nvPr/>
        </p:nvPicPr>
        <p:blipFill>
          <a:blip r:embed="rId2"/>
          <a:srcRect t="17255"/>
          <a:stretch>
            <a:fillRect/>
          </a:stretch>
        </p:blipFill>
        <p:spPr>
          <a:xfrm>
            <a:off x="571337" y="5192247"/>
            <a:ext cx="2765119" cy="1525327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extBox 6"/>
          <p:cNvSpPr txBox="1"/>
          <p:nvPr/>
        </p:nvSpPr>
        <p:spPr>
          <a:xfrm>
            <a:off x="2432178" y="175963"/>
            <a:ext cx="8393138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r>
              <a:rPr lang="en-IN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 Inactivity vs Obesity </a:t>
            </a:r>
          </a:p>
        </p:txBody>
      </p:sp>
      <p:pic>
        <p:nvPicPr>
          <p:cNvPr id="124" name="Picture 2" descr="Picture 2"/>
          <p:cNvPicPr>
            <a:picLocks noChangeAspect="1"/>
          </p:cNvPicPr>
          <p:nvPr/>
        </p:nvPicPr>
        <p:blipFill>
          <a:blip r:embed="rId3"/>
          <a:srcRect t="4924" b="10109"/>
          <a:stretch>
            <a:fillRect/>
          </a:stretch>
        </p:blipFill>
        <p:spPr>
          <a:xfrm>
            <a:off x="4349015" y="5192247"/>
            <a:ext cx="2626974" cy="1489790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Rectangle 3"/>
          <p:cNvSpPr/>
          <p:nvPr/>
        </p:nvSpPr>
        <p:spPr>
          <a:xfrm>
            <a:off x="7693578" y="1586748"/>
            <a:ext cx="4173795" cy="3970318"/>
          </a:xfrm>
          <a:prstGeom prst="rect">
            <a:avLst/>
          </a:prstGeom>
          <a:solidFill>
            <a:srgbClr val="A7A7A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/>
              <a:t>Positive relationship:</a:t>
            </a:r>
            <a:r>
              <a:rPr lang="en-US" dirty="0"/>
              <a:t> Higher physical inactivity is associated with higher obesity rates.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/>
              <a:t>Strong correlation (r = 0.65)</a:t>
            </a:r>
            <a:r>
              <a:rPr lang="en-US" dirty="0"/>
              <a:t> indicating inactivity significantly contributes to obesity..</a:t>
            </a:r>
            <a:endParaRPr dirty="0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Notes :-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The scatter plot shows that states with </a:t>
            </a:r>
            <a:r>
              <a:rPr lang="en-US" b="1" dirty="0"/>
              <a:t>higher physical inactivity tend to have higher obesity prevalence.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This suggests that </a:t>
            </a:r>
            <a:r>
              <a:rPr lang="en-US" b="1" dirty="0"/>
              <a:t>increasing physical activity could help reduce obesity rates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D47970-9FC1-3081-8610-E26A94723B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8" y="1157466"/>
            <a:ext cx="7069395" cy="370380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4"/>
          <p:cNvSpPr txBox="1"/>
          <p:nvPr/>
        </p:nvSpPr>
        <p:spPr>
          <a:xfrm>
            <a:off x="3886741" y="78138"/>
            <a:ext cx="6002939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r>
              <a:rPr lang="en-IN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Obesity by Gender</a:t>
            </a:r>
          </a:p>
        </p:txBody>
      </p:sp>
      <p:sp>
        <p:nvSpPr>
          <p:cNvPr id="129" name="Rectangle 1"/>
          <p:cNvSpPr/>
          <p:nvPr/>
        </p:nvSpPr>
        <p:spPr>
          <a:xfrm>
            <a:off x="7686395" y="1763104"/>
            <a:ext cx="3947314" cy="4247317"/>
          </a:xfrm>
          <a:prstGeom prst="rect">
            <a:avLst/>
          </a:prstGeom>
          <a:solidFill>
            <a:srgbClr val="A7A7A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Obesity increased for </a:t>
            </a:r>
            <a:r>
              <a:rPr lang="en-US" b="1" dirty="0"/>
              <a:t>both males and females over time</a:t>
            </a:r>
            <a:r>
              <a:rPr lang="en-US" dirty="0"/>
              <a:t>.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/>
              <a:t>Females show slightly higher rates in recent years</a:t>
            </a:r>
            <a:r>
              <a:rPr lang="en-US" dirty="0"/>
              <a:t>.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Average obesity rate: </a:t>
            </a:r>
            <a:r>
              <a:rPr lang="en-US" b="1" dirty="0"/>
              <a:t>Female 31.1%</a:t>
            </a:r>
            <a:r>
              <a:rPr lang="en-US" dirty="0"/>
              <a:t>, </a:t>
            </a:r>
            <a:r>
              <a:rPr lang="en-US" b="1" dirty="0"/>
              <a:t>Male 30.8%</a:t>
            </a:r>
            <a:r>
              <a:rPr lang="en-US" dirty="0"/>
              <a:t>.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Overall </a:t>
            </a:r>
            <a:r>
              <a:rPr lang="en-US" b="1" dirty="0"/>
              <a:t>difference between sexes is small</a:t>
            </a:r>
            <a:r>
              <a:rPr lang="en-US" dirty="0"/>
              <a:t>.</a:t>
            </a:r>
            <a:endParaRPr dirty="0"/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 :-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Obesity rates have </a:t>
            </a:r>
            <a:r>
              <a:rPr lang="en-US" b="1" dirty="0"/>
              <a:t>steadily increased for both males and females over time</a:t>
            </a:r>
            <a:r>
              <a:rPr lang="en-US" dirty="0"/>
              <a:t>.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/>
              <a:t>Females show a slightly higher average rate</a:t>
            </a:r>
            <a:r>
              <a:rPr lang="en-US" dirty="0"/>
              <a:t>, but the overall difference between genders is small.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4945DF-E3FF-B167-6EDE-E8CBCADF7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529" y="1030881"/>
            <a:ext cx="5563682" cy="28558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BD3485-4531-1C46-0F76-BC7BF989D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529" y="3787460"/>
            <a:ext cx="5563682" cy="304053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2"/>
          <p:cNvSpPr txBox="1"/>
          <p:nvPr/>
        </p:nvSpPr>
        <p:spPr>
          <a:xfrm>
            <a:off x="3358575" y="176749"/>
            <a:ext cx="6004562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Obesity by </a:t>
            </a:r>
            <a:r>
              <a:rPr dirty="0"/>
              <a:t>Age Group </a:t>
            </a:r>
          </a:p>
        </p:txBody>
      </p:sp>
      <p:sp>
        <p:nvSpPr>
          <p:cNvPr id="139" name="Rectangle 1"/>
          <p:cNvSpPr/>
          <p:nvPr/>
        </p:nvSpPr>
        <p:spPr>
          <a:xfrm>
            <a:off x="8806071" y="1717649"/>
            <a:ext cx="3229370" cy="3416320"/>
          </a:xfrm>
          <a:prstGeom prst="rect">
            <a:avLst/>
          </a:prstGeom>
          <a:solidFill>
            <a:srgbClr val="A7A7A7"/>
          </a:solidFill>
          <a:ln>
            <a:noFill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Obesity increases with age</a:t>
            </a:r>
            <a:r>
              <a:rPr lang="en-US" dirty="0"/>
              <a:t>.</a:t>
            </a:r>
            <a:endParaRPr dirty="0"/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Highest rates in middle-aged adults (45–54)</a:t>
            </a:r>
            <a:r>
              <a:rPr lang="en-US" dirty="0"/>
              <a:t>.</a:t>
            </a:r>
            <a:endParaRPr dirty="0"/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Middle-aged adults are the highest-risk group.</a:t>
            </a:r>
          </a:p>
          <a:p>
            <a:pPr defTabSz="914400"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defTabSz="914400"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</a:t>
            </a:r>
            <a:r>
              <a:rPr lang="en-US" dirty="0"/>
              <a:t>s</a:t>
            </a:r>
            <a:r>
              <a:rPr dirty="0"/>
              <a:t>:-</a:t>
            </a:r>
          </a:p>
          <a:p>
            <a:pPr marL="285750" indent="-285750" defTabSz="91440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Lifestyle and metabolic changes increase obesity in midlife.</a:t>
            </a:r>
          </a:p>
          <a:p>
            <a:pPr marL="285750" indent="-285750" defTabSz="91440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This group should be targeted for interventions.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B40B2-D814-F1F9-D671-864D96EF0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92" y="1511171"/>
            <a:ext cx="7210208" cy="418170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2" descr="Picture 2"/>
          <p:cNvPicPr>
            <a:picLocks noChangeAspect="1"/>
          </p:cNvPicPr>
          <p:nvPr/>
        </p:nvPicPr>
        <p:blipFill>
          <a:blip r:embed="rId2"/>
          <a:srcRect l="57708" r="4953" b="37005"/>
          <a:stretch>
            <a:fillRect/>
          </a:stretch>
        </p:blipFill>
        <p:spPr>
          <a:xfrm>
            <a:off x="10677389" y="775479"/>
            <a:ext cx="1023355" cy="961105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extBox 4"/>
          <p:cNvSpPr txBox="1"/>
          <p:nvPr/>
        </p:nvSpPr>
        <p:spPr>
          <a:xfrm>
            <a:off x="3067665" y="167662"/>
            <a:ext cx="7124656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r>
              <a:rPr lang="en-IN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Nutrition vs Obesity</a:t>
            </a:r>
          </a:p>
        </p:txBody>
      </p:sp>
      <p:pic>
        <p:nvPicPr>
          <p:cNvPr id="144" name="Picture 4" descr="Picture 4"/>
          <p:cNvPicPr>
            <a:picLocks noChangeAspect="1"/>
          </p:cNvPicPr>
          <p:nvPr/>
        </p:nvPicPr>
        <p:blipFill>
          <a:blip r:embed="rId2"/>
          <a:srcRect l="16402" t="67500" r="68489" b="3929"/>
          <a:stretch>
            <a:fillRect/>
          </a:stretch>
        </p:blipFill>
        <p:spPr>
          <a:xfrm>
            <a:off x="11009145" y="1986195"/>
            <a:ext cx="355765" cy="3744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Picture 6" descr="Picture 6"/>
          <p:cNvPicPr>
            <a:picLocks noChangeAspect="1"/>
          </p:cNvPicPr>
          <p:nvPr/>
        </p:nvPicPr>
        <p:blipFill>
          <a:blip r:embed="rId2"/>
          <a:srcRect l="4672" r="56561" b="32499"/>
          <a:stretch>
            <a:fillRect/>
          </a:stretch>
        </p:blipFill>
        <p:spPr>
          <a:xfrm>
            <a:off x="10660497" y="2368368"/>
            <a:ext cx="1116595" cy="10822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Picture 8" descr="Picture 8"/>
          <p:cNvPicPr>
            <a:picLocks noChangeAspect="1"/>
          </p:cNvPicPr>
          <p:nvPr/>
        </p:nvPicPr>
        <p:blipFill>
          <a:blip r:embed="rId2"/>
          <a:srcRect l="66899" t="68214" r="17395"/>
          <a:stretch>
            <a:fillRect/>
          </a:stretch>
        </p:blipFill>
        <p:spPr>
          <a:xfrm>
            <a:off x="11009145" y="3610016"/>
            <a:ext cx="419299" cy="4723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icture 10" descr="Picture 10"/>
          <p:cNvPicPr>
            <a:picLocks noChangeAspect="1"/>
          </p:cNvPicPr>
          <p:nvPr/>
        </p:nvPicPr>
        <p:blipFill>
          <a:blip r:embed="rId3"/>
          <a:srcRect l="2214" r="47500"/>
          <a:stretch>
            <a:fillRect/>
          </a:stretch>
        </p:blipFill>
        <p:spPr>
          <a:xfrm>
            <a:off x="10716513" y="4241801"/>
            <a:ext cx="1296793" cy="1343160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Rectangle 1"/>
          <p:cNvSpPr/>
          <p:nvPr/>
        </p:nvSpPr>
        <p:spPr>
          <a:xfrm>
            <a:off x="133567" y="1387885"/>
            <a:ext cx="2769303" cy="4082230"/>
          </a:xfrm>
          <a:prstGeom prst="rect">
            <a:avLst/>
          </a:prstGeom>
          <a:solidFill>
            <a:srgbClr val="A7A7A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Poor nutrition is linked to higher obesity rates.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Low fruit and vegetable intake correlates with obesity.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Diet quality is a major determinant of obesity.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</a:t>
            </a:r>
            <a:r>
              <a:rPr lang="en-US" dirty="0"/>
              <a:t>s</a:t>
            </a:r>
            <a:r>
              <a:rPr dirty="0"/>
              <a:t> :-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As healthy food intake decreases, obesity increases.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Nutrition education is important for prevention.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39338-5E29-6AC7-01EF-EED6D91F1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665" y="1285575"/>
            <a:ext cx="7124656" cy="408222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onclusion"/>
          <p:cNvSpPr txBox="1"/>
          <p:nvPr/>
        </p:nvSpPr>
        <p:spPr>
          <a:xfrm>
            <a:off x="3270525" y="284655"/>
            <a:ext cx="7292933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r>
              <a:rPr lang="en-IN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Obesity by Race / Ethnicity</a:t>
            </a:r>
          </a:p>
        </p:txBody>
      </p:sp>
      <p:sp>
        <p:nvSpPr>
          <p:cNvPr id="163" name="Data cleaning is essential for accurate analysis.…"/>
          <p:cNvSpPr txBox="1"/>
          <p:nvPr/>
        </p:nvSpPr>
        <p:spPr>
          <a:xfrm>
            <a:off x="1175617" y="4082881"/>
            <a:ext cx="3984035" cy="2775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280736" indent="-280736">
              <a:spcBef>
                <a:spcPts val="1600"/>
              </a:spcBef>
              <a:buSzPct val="100000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Obesity rates </a:t>
            </a:r>
            <a:r>
              <a:rPr lang="en-US" b="1" dirty="0"/>
              <a:t>vary significantly across ethnic groups</a:t>
            </a:r>
            <a:r>
              <a:rPr lang="en-US" dirty="0"/>
              <a:t>.</a:t>
            </a:r>
            <a:r>
              <a:rPr dirty="0"/>
              <a:t>.</a:t>
            </a: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280736" indent="-280736">
              <a:spcBef>
                <a:spcPts val="1600"/>
              </a:spcBef>
              <a:buSzPct val="100000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/>
              <a:t>Highest:</a:t>
            </a:r>
            <a:r>
              <a:rPr lang="en-US" dirty="0"/>
              <a:t> Hawaiian/Pacific Islander (40.8%), </a:t>
            </a:r>
            <a:r>
              <a:rPr lang="en-US" b="1" dirty="0"/>
              <a:t>Lowest:</a:t>
            </a:r>
            <a:r>
              <a:rPr lang="en-US" dirty="0"/>
              <a:t> Asian (11.6%).</a:t>
            </a: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35E500-9ACE-7ACC-238C-D7EB1776C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2"/>
          <a:stretch/>
        </p:blipFill>
        <p:spPr>
          <a:xfrm>
            <a:off x="1013729" y="1060031"/>
            <a:ext cx="4732881" cy="28392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3ABD63-BA7B-3AE5-F524-85EB0BD11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247" y="1041675"/>
            <a:ext cx="5039918" cy="28392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34BCD2-684E-4680-F744-DE211802D911}"/>
              </a:ext>
            </a:extLst>
          </p:cNvPr>
          <p:cNvSpPr txBox="1"/>
          <p:nvPr/>
        </p:nvSpPr>
        <p:spPr>
          <a:xfrm>
            <a:off x="6916992" y="4082880"/>
            <a:ext cx="4099391" cy="2308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:-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groups, especially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Hawaiian/Pacific Islanders and Non-Hispanic Blacks, show higher obesity rates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Asian populations have the lowest rates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ethnic health disparities.</a:t>
            </a: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FDDA3-418B-BE4D-DB5E-09545562A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onclusion">
            <a:extLst>
              <a:ext uri="{FF2B5EF4-FFF2-40B4-BE49-F238E27FC236}">
                <a16:creationId xmlns:a16="http://schemas.microsoft.com/office/drawing/2014/main" id="{2399DE58-3EFC-C215-ACC5-0025B0E62A73}"/>
              </a:ext>
            </a:extLst>
          </p:cNvPr>
          <p:cNvSpPr txBox="1"/>
          <p:nvPr/>
        </p:nvSpPr>
        <p:spPr>
          <a:xfrm>
            <a:off x="3917807" y="443665"/>
            <a:ext cx="5408089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Obesity by Income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9CB351-8ED1-3E22-698D-1E8DA564E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02" y="1570733"/>
            <a:ext cx="8116844" cy="39451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8BED83-4C28-A323-065C-F1EBFB27F5B9}"/>
              </a:ext>
            </a:extLst>
          </p:cNvPr>
          <p:cNvSpPr txBox="1"/>
          <p:nvPr/>
        </p:nvSpPr>
        <p:spPr>
          <a:xfrm>
            <a:off x="8863780" y="1269686"/>
            <a:ext cx="3141407" cy="5078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tx1"/>
                </a:solidFill>
              </a:rPr>
              <a:t>Obesity rates are </a:t>
            </a:r>
            <a:r>
              <a:rPr lang="en-US" b="1" dirty="0">
                <a:solidFill>
                  <a:schemeClr val="tx1"/>
                </a:solidFill>
              </a:rPr>
              <a:t>higher in lower-income groups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dirty="0">
                <a:solidFill>
                  <a:schemeClr val="tx1"/>
                </a:solidFill>
              </a:rPr>
              <a:t>Highest:</a:t>
            </a:r>
            <a:r>
              <a:rPr lang="en-US" dirty="0">
                <a:solidFill>
                  <a:schemeClr val="tx1"/>
                </a:solidFill>
              </a:rPr>
              <a:t> &lt;$15,000 (35.8%), </a:t>
            </a:r>
            <a:r>
              <a:rPr lang="en-US" b="1" dirty="0">
                <a:solidFill>
                  <a:schemeClr val="tx1"/>
                </a:solidFill>
              </a:rPr>
              <a:t>Lowest:</a:t>
            </a:r>
            <a:r>
              <a:rPr lang="en-US" dirty="0">
                <a:solidFill>
                  <a:schemeClr val="tx1"/>
                </a:solidFill>
              </a:rPr>
              <a:t> ≥$75,000 (29.0%).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tx1"/>
                </a:solidFill>
              </a:rPr>
              <a:t>Shows a clear </a:t>
            </a:r>
            <a:r>
              <a:rPr lang="en-US" b="1" dirty="0">
                <a:solidFill>
                  <a:schemeClr val="tx1"/>
                </a:solidFill>
              </a:rPr>
              <a:t>socioeconomic pattern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b="1" dirty="0">
                <a:solidFill>
                  <a:schemeClr val="tx1"/>
                </a:solidFill>
              </a:rPr>
              <a:t>Notes:- 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tx1"/>
                </a:solidFill>
              </a:rPr>
              <a:t>Lower-income groups tend to have </a:t>
            </a:r>
            <a:r>
              <a:rPr lang="en-US" b="1" dirty="0">
                <a:solidFill>
                  <a:schemeClr val="tx1"/>
                </a:solidFill>
              </a:rPr>
              <a:t>higher obesity prevalence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IN" b="1" dirty="0">
              <a:solidFill>
                <a:schemeClr val="tx1"/>
              </a:solidFill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tx1"/>
                </a:solidFill>
              </a:rPr>
              <a:t>Higher-income groups show </a:t>
            </a:r>
            <a:r>
              <a:rPr lang="en-US" b="1" dirty="0">
                <a:solidFill>
                  <a:schemeClr val="tx1"/>
                </a:solidFill>
              </a:rPr>
              <a:t>relatively lower obesity rates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IN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Income may influence </a:t>
            </a:r>
            <a:r>
              <a:rPr lang="en-US" b="1" dirty="0">
                <a:solidFill>
                  <a:schemeClr val="tx1"/>
                </a:solidFill>
              </a:rPr>
              <a:t>diet quality, lifestyle, and access to healthcare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n-US" sz="1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847348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FE35C9-C29B-8FD9-6BBF-8DC51E31B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onclusion">
            <a:extLst>
              <a:ext uri="{FF2B5EF4-FFF2-40B4-BE49-F238E27FC236}">
                <a16:creationId xmlns:a16="http://schemas.microsoft.com/office/drawing/2014/main" id="{A7569986-5DDC-3640-4E86-DA068E39E0C8}"/>
              </a:ext>
            </a:extLst>
          </p:cNvPr>
          <p:cNvSpPr txBox="1"/>
          <p:nvPr/>
        </p:nvSpPr>
        <p:spPr>
          <a:xfrm>
            <a:off x="3814568" y="382036"/>
            <a:ext cx="5408089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Obesity by Education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569BAA-CACC-2CAC-37E7-20FBFAD572DC}"/>
              </a:ext>
            </a:extLst>
          </p:cNvPr>
          <p:cNvSpPr txBox="1"/>
          <p:nvPr/>
        </p:nvSpPr>
        <p:spPr>
          <a:xfrm>
            <a:off x="8819535" y="1958535"/>
            <a:ext cx="3141407" cy="39703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Obesity </a:t>
            </a:r>
            <a:r>
              <a:rPr lang="en-US" b="1" dirty="0"/>
              <a:t>decreases as education level increases</a:t>
            </a:r>
            <a:r>
              <a:rPr lang="en-US" dirty="0"/>
              <a:t>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dirty="0"/>
              <a:t>Highest:</a:t>
            </a:r>
            <a:r>
              <a:rPr lang="en-US" dirty="0"/>
              <a:t> Less than high school (34.7%), </a:t>
            </a:r>
            <a:r>
              <a:rPr lang="en-US" b="1" dirty="0"/>
              <a:t>Lowest:</a:t>
            </a:r>
            <a:r>
              <a:rPr lang="en-US" dirty="0"/>
              <a:t> College graduates (25.4%).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b="1" dirty="0">
                <a:solidFill>
                  <a:schemeClr val="tx1"/>
                </a:solidFill>
              </a:rPr>
              <a:t>Notes:- 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People with </a:t>
            </a:r>
            <a:r>
              <a:rPr lang="en-US" b="1" dirty="0"/>
              <a:t>lower education levels tend to have higher obesity rates</a:t>
            </a:r>
            <a:r>
              <a:rPr lang="en-US" dirty="0"/>
              <a:t>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Higher education may improve </a:t>
            </a:r>
            <a:r>
              <a:rPr lang="en-US" b="1" dirty="0"/>
              <a:t>health awareness and lifestyle choices</a:t>
            </a:r>
            <a:r>
              <a:rPr lang="en-US" dirty="0"/>
              <a:t>.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n-US" sz="1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0C0CCD-C22F-18FB-6432-748F91E05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58" y="1504334"/>
            <a:ext cx="8268854" cy="44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8923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2"/>
          <p:cNvSpPr txBox="1"/>
          <p:nvPr/>
        </p:nvSpPr>
        <p:spPr>
          <a:xfrm>
            <a:off x="3798569" y="158233"/>
            <a:ext cx="6004562" cy="715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Coding Challenges</a:t>
            </a:r>
          </a:p>
        </p:txBody>
      </p:sp>
      <p:sp>
        <p:nvSpPr>
          <p:cNvPr id="152" name="TextBox 10"/>
          <p:cNvSpPr txBox="1"/>
          <p:nvPr/>
        </p:nvSpPr>
        <p:spPr>
          <a:xfrm>
            <a:off x="318700" y="1534684"/>
            <a:ext cx="3681949" cy="4893647"/>
          </a:xfrm>
          <a:prstGeom prst="rect">
            <a:avLst/>
          </a:prstGeom>
          <a:solidFill>
            <a:srgbClr val="A7A7A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342900" indent="-342900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 dirty="0"/>
              <a:t>Large dataset slowed loading and processing.</a:t>
            </a:r>
          </a:p>
          <a:p>
            <a:pPr marL="342900" indent="-342900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 dirty="0"/>
              <a:t>Inconsistent column names caused filtering/grouping errors.</a:t>
            </a:r>
          </a:p>
          <a:p>
            <a:pPr marL="342900" indent="-342900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 dirty="0"/>
              <a:t>Missing/non-numeric values affected calculations and charts.</a:t>
            </a:r>
          </a:p>
          <a:p>
            <a:pPr marL="342900" indent="-342900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 dirty="0"/>
              <a:t>Filtering sometimes returned empty datasets, causing errors.</a:t>
            </a:r>
          </a:p>
          <a:p>
            <a:pPr marL="342900" indent="-342900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 dirty="0"/>
              <a:t>Plots needed manual formatting and labeling.</a:t>
            </a:r>
          </a:p>
        </p:txBody>
      </p:sp>
      <p:sp>
        <p:nvSpPr>
          <p:cNvPr id="153" name="TextBox 11"/>
          <p:cNvSpPr txBox="1"/>
          <p:nvPr/>
        </p:nvSpPr>
        <p:spPr>
          <a:xfrm>
            <a:off x="7404016" y="2504696"/>
            <a:ext cx="4469284" cy="3416320"/>
          </a:xfrm>
          <a:prstGeom prst="rect">
            <a:avLst/>
          </a:prstGeom>
          <a:solidFill>
            <a:srgbClr val="A7A7A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data loading and processing.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filtering and grouping without errors.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calculations and valid charts.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crashes from empty datasets.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and well-labelled visualization.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Challenges"/>
          <p:cNvSpPr/>
          <p:nvPr/>
        </p:nvSpPr>
        <p:spPr>
          <a:xfrm>
            <a:off x="4155764" y="1067684"/>
            <a:ext cx="3601888" cy="1182048"/>
          </a:xfrm>
          <a:prstGeom prst="wedgeEllipseCallout">
            <a:avLst>
              <a:gd name="adj1" fmla="val -49662"/>
              <a:gd name="adj2" fmla="val 63752"/>
            </a:avLst>
          </a:prstGeom>
          <a:solidFill>
            <a:srgbClr val="A7A7A7"/>
          </a:solidFill>
          <a:ln w="12700">
            <a:noFill/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Challenges</a:t>
            </a:r>
          </a:p>
        </p:txBody>
      </p:sp>
      <p:sp>
        <p:nvSpPr>
          <p:cNvPr id="155" name="Solutions"/>
          <p:cNvSpPr/>
          <p:nvPr/>
        </p:nvSpPr>
        <p:spPr>
          <a:xfrm>
            <a:off x="4155764" y="3742839"/>
            <a:ext cx="3013076" cy="15774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6765" y="0"/>
                  <a:pt x="21600" y="4415"/>
                  <a:pt x="21600" y="9862"/>
                </a:cubicBezTo>
                <a:cubicBezTo>
                  <a:pt x="21600" y="12603"/>
                  <a:pt x="20373" y="15083"/>
                  <a:pt x="18396" y="16870"/>
                </a:cubicBezTo>
                <a:lnTo>
                  <a:pt x="21526" y="21600"/>
                </a:lnTo>
                <a:lnTo>
                  <a:pt x="16837" y="18041"/>
                </a:lnTo>
                <a:lnTo>
                  <a:pt x="16834" y="18041"/>
                </a:lnTo>
                <a:cubicBezTo>
                  <a:pt x="15111" y="19104"/>
                  <a:pt x="13036" y="19725"/>
                  <a:pt x="10800" y="19725"/>
                </a:cubicBezTo>
                <a:cubicBezTo>
                  <a:pt x="4835" y="19725"/>
                  <a:pt x="0" y="15309"/>
                  <a:pt x="0" y="9862"/>
                </a:cubicBezTo>
                <a:cubicBezTo>
                  <a:pt x="0" y="4415"/>
                  <a:pt x="4835" y="0"/>
                  <a:pt x="10800" y="0"/>
                </a:cubicBezTo>
                <a:close/>
              </a:path>
            </a:pathLst>
          </a:custGeom>
          <a:solidFill>
            <a:srgbClr val="A7A7A7"/>
          </a:solidFill>
          <a:ln w="12700">
            <a:noFill/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>
              <a:defRPr sz="41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   Solutions</a:t>
            </a:r>
          </a:p>
        </p:txBody>
      </p:sp>
      <p:grpSp>
        <p:nvGrpSpPr>
          <p:cNvPr id="158" name="Picture 6"/>
          <p:cNvGrpSpPr/>
          <p:nvPr/>
        </p:nvGrpSpPr>
        <p:grpSpPr>
          <a:xfrm>
            <a:off x="9149074" y="305140"/>
            <a:ext cx="2879339" cy="2199556"/>
            <a:chOff x="0" y="0"/>
            <a:chExt cx="2882769" cy="2218602"/>
          </a:xfrm>
        </p:grpSpPr>
        <p:sp>
          <p:nvSpPr>
            <p:cNvPr id="156" name="Rectangle"/>
            <p:cNvSpPr/>
            <p:nvPr/>
          </p:nvSpPr>
          <p:spPr>
            <a:xfrm>
              <a:off x="0" y="0"/>
              <a:ext cx="2882770" cy="2218603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57" name="image29.jpeg" descr="image29.jpe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882770" cy="22186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A7A7A7"/>
            </a:gs>
          </a:gsLst>
          <a:lin ang="5285363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6E8F5-E19D-55DF-FF23-EF9C6367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2" descr="Picture 2">
            <a:extLst>
              <a:ext uri="{FF2B5EF4-FFF2-40B4-BE49-F238E27FC236}">
                <a16:creationId xmlns:a16="http://schemas.microsoft.com/office/drawing/2014/main" id="{40A100BB-7987-3D0C-BA86-81980F35E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436" y="613875"/>
            <a:ext cx="2988106" cy="2130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icture 4" descr="Picture 4">
            <a:extLst>
              <a:ext uri="{FF2B5EF4-FFF2-40B4-BE49-F238E27FC236}">
                <a16:creationId xmlns:a16="http://schemas.microsoft.com/office/drawing/2014/main" id="{5827735B-614A-69B8-A530-DA0B48959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117" y="4032190"/>
            <a:ext cx="3195731" cy="2130487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Conclusion">
            <a:extLst>
              <a:ext uri="{FF2B5EF4-FFF2-40B4-BE49-F238E27FC236}">
                <a16:creationId xmlns:a16="http://schemas.microsoft.com/office/drawing/2014/main" id="{36C38E87-25A2-B588-08CD-BFB5AC1E64DB}"/>
              </a:ext>
            </a:extLst>
          </p:cNvPr>
          <p:cNvSpPr txBox="1"/>
          <p:nvPr/>
        </p:nvSpPr>
        <p:spPr>
          <a:xfrm>
            <a:off x="687912" y="332190"/>
            <a:ext cx="2642530" cy="678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Conclusion</a:t>
            </a:r>
          </a:p>
        </p:txBody>
      </p:sp>
      <p:sp>
        <p:nvSpPr>
          <p:cNvPr id="163" name="Data cleaning is essential for accurate analysis.…">
            <a:extLst>
              <a:ext uri="{FF2B5EF4-FFF2-40B4-BE49-F238E27FC236}">
                <a16:creationId xmlns:a16="http://schemas.microsoft.com/office/drawing/2014/main" id="{95FFBBED-0384-14C0-F895-BD3375CEB117}"/>
              </a:ext>
            </a:extLst>
          </p:cNvPr>
          <p:cNvSpPr txBox="1"/>
          <p:nvPr/>
        </p:nvSpPr>
        <p:spPr>
          <a:xfrm>
            <a:off x="262321" y="1539763"/>
            <a:ext cx="8186238" cy="3185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0736" indent="-280736" algn="just">
              <a:lnSpc>
                <a:spcPct val="120000"/>
              </a:lnSpc>
              <a:spcBef>
                <a:spcPts val="1600"/>
              </a:spcBef>
              <a:buSzPct val="100000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Data cleaning is essential for accurate analysis.</a:t>
            </a: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280736" indent="-280736" algn="just">
              <a:lnSpc>
                <a:spcPct val="120000"/>
              </a:lnSpc>
              <a:spcBef>
                <a:spcPts val="1600"/>
              </a:spcBef>
              <a:buSzPct val="100000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Diet, physical activity, age, and region strongly influence obesity.</a:t>
            </a: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280736" indent="-280736" algn="just">
              <a:lnSpc>
                <a:spcPct val="120000"/>
              </a:lnSpc>
              <a:spcBef>
                <a:spcPts val="1600"/>
              </a:spcBef>
              <a:buSzPct val="100000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Visualizations help identify trends.</a:t>
            </a: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280736" indent="-280736" algn="just">
              <a:lnSpc>
                <a:spcPct val="120000"/>
              </a:lnSpc>
              <a:spcBef>
                <a:spcPts val="1600"/>
              </a:spcBef>
              <a:buSzPct val="100000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Obesity is a growing public health issue</a:t>
            </a:r>
            <a:r>
              <a:rPr lang="en-US" dirty="0"/>
              <a:t>-</a:t>
            </a:r>
            <a:r>
              <a:rPr dirty="0"/>
              <a:t>interventions need nutrition, activity, and targeted regional strategies.</a:t>
            </a: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548889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000FF"/>
      </a:hlink>
      <a:folHlink>
        <a:srgbClr val="FF00FF"/>
      </a:folHlink>
    </a:clrScheme>
    <a:fontScheme name="Office 2013 - 2022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000FF"/>
      </a:hlink>
      <a:folHlink>
        <a:srgbClr val="FF00FF"/>
      </a:folHlink>
    </a:clrScheme>
    <a:fontScheme name="Office 2013 - 2022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806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Times Roman</vt:lpstr>
      <vt:lpstr>Office 2013 - 2022 Theme</vt:lpstr>
      <vt:lpstr>PowerPoint Presentation</vt:lpstr>
      <vt:lpstr>Dataset Overview</vt:lpstr>
      <vt:lpstr>Data Cleaning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Niru</dc:creator>
  <cp:lastModifiedBy>Admin</cp:lastModifiedBy>
  <cp:revision>5</cp:revision>
  <dcterms:modified xsi:type="dcterms:W3CDTF">2026-03-16T20:45:17Z</dcterms:modified>
</cp:coreProperties>
</file>